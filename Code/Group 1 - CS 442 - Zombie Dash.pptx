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Raleway"/>
      <p:regular r:id="rId23"/>
      <p:bold r:id="rId24"/>
      <p:italic r:id="rId25"/>
      <p:boldItalic r:id="rId26"/>
    </p:embeddedFont>
    <p:embeddedFont>
      <p:font typeface="La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aleway-bold.fntdata"/><Relationship Id="rId23" Type="http://schemas.openxmlformats.org/officeDocument/2006/relationships/font" Target="fonts/Raleway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boldItalic.fntdata"/><Relationship Id="rId25" Type="http://schemas.openxmlformats.org/officeDocument/2006/relationships/font" Target="fonts/Raleway-italic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225086616a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225086616a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1b435c838e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11b435c838e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1b435c838e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1b435c838e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1b435c838e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1b435c838e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1b435c838e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1b435c838e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1b435c838e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1b435c838e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225086616a_2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1225086616a_2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1b435c838e_5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11b435c838e_5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225086616a_2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1225086616a_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1b435c838e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1b435c838e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1b435c838e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11b435c838e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1b435c838e_5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1b435c838e_5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1b435c838e_4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1b435c838e_4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Peer Review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1b435c838e_5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11b435c838e_5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1b435c838e_5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11b435c838e_5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225086616a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1225086616a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7.png"/><Relationship Id="rId6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9.png"/><Relationship Id="rId5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3"/>
          <p:cNvPicPr preferRelativeResize="0"/>
          <p:nvPr/>
        </p:nvPicPr>
        <p:blipFill rotWithShape="1">
          <a:blip r:embed="rId3">
            <a:alphaModFix/>
          </a:blip>
          <a:srcRect b="0" l="7748" r="11029" t="0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3"/>
          <p:cNvSpPr txBox="1"/>
          <p:nvPr>
            <p:ph type="ctrTitle"/>
          </p:nvPr>
        </p:nvSpPr>
        <p:spPr>
          <a:xfrm>
            <a:off x="4080850" y="550000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Zombie Dash</a:t>
            </a:r>
            <a:endParaRPr/>
          </a:p>
        </p:txBody>
      </p:sp>
      <p:sp>
        <p:nvSpPr>
          <p:cNvPr id="74" name="Google Shape;74;p13"/>
          <p:cNvSpPr txBox="1"/>
          <p:nvPr>
            <p:ph idx="1" type="subTitle"/>
          </p:nvPr>
        </p:nvSpPr>
        <p:spPr>
          <a:xfrm>
            <a:off x="2671117" y="339090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Timothy Villaraza, Michal Fitzryk, Tim Jang, Brian Yu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idx="4294967295" type="title"/>
          </p:nvPr>
        </p:nvSpPr>
        <p:spPr>
          <a:xfrm>
            <a:off x="141120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36666"/>
              <a:buFont typeface="Arial"/>
              <a:buNone/>
            </a:pPr>
            <a:r>
              <a:rPr lang="en"/>
              <a:t>Built upon the work of Group 14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3666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3666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4"/>
          <p:cNvSpPr txBox="1"/>
          <p:nvPr>
            <p:ph idx="4294967295" type="body"/>
          </p:nvPr>
        </p:nvSpPr>
        <p:spPr>
          <a:xfrm>
            <a:off x="360750" y="1595775"/>
            <a:ext cx="84225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 Danielle Hatten, Manuel Torres, Meaghan Ryan, Nerijus Gelezinis </a:t>
            </a:r>
            <a:endParaRPr b="1"/>
          </a:p>
        </p:txBody>
      </p:sp>
      <p:pic>
        <p:nvPicPr>
          <p:cNvPr id="81" name="Google Shape;81;p14"/>
          <p:cNvPicPr preferRelativeResize="0"/>
          <p:nvPr/>
        </p:nvPicPr>
        <p:blipFill rotWithShape="1">
          <a:blip r:embed="rId3">
            <a:alphaModFix/>
          </a:blip>
          <a:srcRect b="21494" l="0" r="0" t="0"/>
          <a:stretch/>
        </p:blipFill>
        <p:spPr>
          <a:xfrm rot="-3916993">
            <a:off x="223800" y="2320775"/>
            <a:ext cx="2105325" cy="1652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4"/>
          <p:cNvPicPr preferRelativeResize="0"/>
          <p:nvPr/>
        </p:nvPicPr>
        <p:blipFill rotWithShape="1">
          <a:blip r:embed="rId3">
            <a:alphaModFix/>
          </a:blip>
          <a:srcRect b="21494" l="0" r="0" t="0"/>
          <a:stretch/>
        </p:blipFill>
        <p:spPr>
          <a:xfrm>
            <a:off x="6432775" y="2945375"/>
            <a:ext cx="2105325" cy="165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4"/>
          <p:cNvPicPr preferRelativeResize="0"/>
          <p:nvPr/>
        </p:nvPicPr>
        <p:blipFill rotWithShape="1">
          <a:blip r:embed="rId4">
            <a:alphaModFix/>
          </a:blip>
          <a:srcRect b="24568" l="0" r="0" t="0"/>
          <a:stretch/>
        </p:blipFill>
        <p:spPr>
          <a:xfrm rot="2130191">
            <a:off x="1645650" y="3406376"/>
            <a:ext cx="2302950" cy="1737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4"/>
          <p:cNvPicPr preferRelativeResize="0"/>
          <p:nvPr/>
        </p:nvPicPr>
        <p:blipFill rotWithShape="1">
          <a:blip r:embed="rId5">
            <a:alphaModFix/>
          </a:blip>
          <a:srcRect b="17999" l="0" r="0" t="0"/>
          <a:stretch/>
        </p:blipFill>
        <p:spPr>
          <a:xfrm rot="-5547761">
            <a:off x="3851175" y="2503550"/>
            <a:ext cx="3093275" cy="2536451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4"/>
          <p:cNvSpPr/>
          <p:nvPr/>
        </p:nvSpPr>
        <p:spPr>
          <a:xfrm rot="5400000">
            <a:off x="35250" y="-35250"/>
            <a:ext cx="564900" cy="635400"/>
          </a:xfrm>
          <a:prstGeom prst="rtTriangle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4"/>
          <p:cNvSpPr/>
          <p:nvPr/>
        </p:nvSpPr>
        <p:spPr>
          <a:xfrm rot="1825">
            <a:off x="-9" y="4507948"/>
            <a:ext cx="565200" cy="635400"/>
          </a:xfrm>
          <a:prstGeom prst="rtTriangle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4"/>
          <p:cNvSpPr/>
          <p:nvPr/>
        </p:nvSpPr>
        <p:spPr>
          <a:xfrm rot="-5400000">
            <a:off x="8573350" y="4562925"/>
            <a:ext cx="564900" cy="635400"/>
          </a:xfrm>
          <a:prstGeom prst="rtTriangle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4"/>
          <p:cNvSpPr/>
          <p:nvPr/>
        </p:nvSpPr>
        <p:spPr>
          <a:xfrm rot="10800000">
            <a:off x="8573350" y="0"/>
            <a:ext cx="564900" cy="635400"/>
          </a:xfrm>
          <a:prstGeom prst="rtTriangle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5"/>
          <p:cNvPicPr preferRelativeResize="0"/>
          <p:nvPr/>
        </p:nvPicPr>
        <p:blipFill rotWithShape="1">
          <a:blip r:embed="rId3">
            <a:alphaModFix/>
          </a:blip>
          <a:srcRect b="23329" l="580" r="-580" t="-23330"/>
          <a:stretch/>
        </p:blipFill>
        <p:spPr>
          <a:xfrm>
            <a:off x="348863" y="184500"/>
            <a:ext cx="8346935" cy="39212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5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VR Escape Room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Zombie Dash</a:t>
            </a:r>
            <a:endParaRPr/>
          </a:p>
        </p:txBody>
      </p:sp>
      <p:sp>
        <p:nvSpPr>
          <p:cNvPr id="100" name="Google Shape;100;p16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have the same team as last semester in CS 440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have experience in Unity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learned the basics of 3D game development and would have liked to try our hand at a 2D game.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Zombie Dash’s project description summary was left </a:t>
            </a:r>
            <a:r>
              <a:rPr lang="en"/>
              <a:t>intentionally</a:t>
            </a:r>
            <a:r>
              <a:rPr lang="en"/>
              <a:t> vague which allowed room for creative freedom.</a:t>
            </a:r>
            <a:endParaRPr/>
          </a:p>
        </p:txBody>
      </p:sp>
      <p:pic>
        <p:nvPicPr>
          <p:cNvPr id="101" name="Google Shape;101;p16"/>
          <p:cNvPicPr preferRelativeResize="0"/>
          <p:nvPr/>
        </p:nvPicPr>
        <p:blipFill rotWithShape="1">
          <a:blip r:embed="rId3">
            <a:alphaModFix/>
          </a:blip>
          <a:srcRect b="26051" l="0" r="0" t="0"/>
          <a:stretch/>
        </p:blipFill>
        <p:spPr>
          <a:xfrm>
            <a:off x="-369825" y="1436288"/>
            <a:ext cx="3070925" cy="2270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Stages of Development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Release</a:t>
            </a:r>
            <a:endParaRPr/>
          </a:p>
        </p:txBody>
      </p:sp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Main Features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Aiming System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Movement, Dash, and Camera Controls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First level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Small Features</a:t>
            </a:r>
            <a:endParaRPr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/>
              <a:t>Menu Functionality</a:t>
            </a:r>
            <a:endParaRPr sz="10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Player Sprite</a:t>
            </a:r>
            <a:endParaRPr/>
          </a:p>
        </p:txBody>
      </p:sp>
      <p:pic>
        <p:nvPicPr>
          <p:cNvPr id="113" name="Google Shape;113;p18"/>
          <p:cNvPicPr preferRelativeResize="0"/>
          <p:nvPr/>
        </p:nvPicPr>
        <p:blipFill rotWithShape="1">
          <a:blip r:embed="rId3">
            <a:alphaModFix/>
          </a:blip>
          <a:srcRect b="18962" l="0" r="0" t="0"/>
          <a:stretch/>
        </p:blipFill>
        <p:spPr>
          <a:xfrm>
            <a:off x="152400" y="1363750"/>
            <a:ext cx="2105325" cy="170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Second </a:t>
            </a:r>
            <a:r>
              <a:rPr lang="en"/>
              <a:t>Release</a:t>
            </a:r>
            <a:endParaRPr/>
          </a:p>
        </p:txBody>
      </p:sp>
      <p:sp>
        <p:nvSpPr>
          <p:cNvPr id="119" name="Google Shape;119;p19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Main Features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Test enemies given zombie sprites and health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Zombie spawning, variants and animations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Player Health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Objective gameplay implemented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Sound Effects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Health Packs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Small Changes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Volume Slider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Full auto gun</a:t>
            </a:r>
            <a:endParaRPr/>
          </a:p>
        </p:txBody>
      </p:sp>
      <p:pic>
        <p:nvPicPr>
          <p:cNvPr id="120" name="Google Shape;120;p19"/>
          <p:cNvPicPr preferRelativeResize="0"/>
          <p:nvPr/>
        </p:nvPicPr>
        <p:blipFill rotWithShape="1">
          <a:blip r:embed="rId3">
            <a:alphaModFix/>
          </a:blip>
          <a:srcRect b="14915" l="0" r="0" t="0"/>
          <a:stretch/>
        </p:blipFill>
        <p:spPr>
          <a:xfrm>
            <a:off x="152400" y="1363750"/>
            <a:ext cx="2105325" cy="179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9"/>
          <p:cNvPicPr preferRelativeResize="0"/>
          <p:nvPr/>
        </p:nvPicPr>
        <p:blipFill rotWithShape="1">
          <a:blip r:embed="rId4">
            <a:alphaModFix/>
          </a:blip>
          <a:srcRect b="33092" l="0" r="0" t="0"/>
          <a:stretch/>
        </p:blipFill>
        <p:spPr>
          <a:xfrm>
            <a:off x="152400" y="3307475"/>
            <a:ext cx="1683624" cy="112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Third Release</a:t>
            </a:r>
            <a:endParaRPr/>
          </a:p>
        </p:txBody>
      </p:sp>
      <p:sp>
        <p:nvSpPr>
          <p:cNvPr id="127" name="Google Shape;127;p20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Main Features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Implemented level system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Small Features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Environment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Borders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Fixes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Collision (npc, map ,etc)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20"/>
          <p:cNvPicPr preferRelativeResize="0"/>
          <p:nvPr/>
        </p:nvPicPr>
        <p:blipFill rotWithShape="1">
          <a:blip r:embed="rId3">
            <a:alphaModFix/>
          </a:blip>
          <a:srcRect b="14405" l="0" r="0" t="0"/>
          <a:stretch/>
        </p:blipFill>
        <p:spPr>
          <a:xfrm>
            <a:off x="120425" y="1595775"/>
            <a:ext cx="2105325" cy="1801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Workflow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Software Development Practices</a:t>
            </a:r>
            <a:endParaRPr/>
          </a:p>
        </p:txBody>
      </p:sp>
      <p:sp>
        <p:nvSpPr>
          <p:cNvPr id="139" name="Google Shape;139;p22"/>
          <p:cNvSpPr txBox="1"/>
          <p:nvPr>
            <p:ph idx="4294967295" type="body"/>
          </p:nvPr>
        </p:nvSpPr>
        <p:spPr>
          <a:xfrm>
            <a:off x="1566875" y="2411375"/>
            <a:ext cx="22803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Pair Programming</a:t>
            </a:r>
            <a:endParaRPr/>
          </a:p>
        </p:txBody>
      </p:sp>
      <p:pic>
        <p:nvPicPr>
          <p:cNvPr id="140" name="Google Shape;14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0350" y="1157913"/>
            <a:ext cx="1523400" cy="15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2"/>
          <p:cNvPicPr preferRelativeResize="0"/>
          <p:nvPr/>
        </p:nvPicPr>
        <p:blipFill rotWithShape="1">
          <a:blip r:embed="rId4">
            <a:alphaModFix/>
          </a:blip>
          <a:srcRect b="14177" l="0" r="0" t="0"/>
          <a:stretch/>
        </p:blipFill>
        <p:spPr>
          <a:xfrm>
            <a:off x="1734725" y="1238803"/>
            <a:ext cx="1586550" cy="1361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2"/>
          <p:cNvPicPr preferRelativeResize="0"/>
          <p:nvPr/>
        </p:nvPicPr>
        <p:blipFill rotWithShape="1">
          <a:blip r:embed="rId5">
            <a:alphaModFix/>
          </a:blip>
          <a:srcRect b="24133" l="0" r="0" t="0"/>
          <a:stretch/>
        </p:blipFill>
        <p:spPr>
          <a:xfrm>
            <a:off x="1511548" y="2788062"/>
            <a:ext cx="2032900" cy="1542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90350" y="2937025"/>
            <a:ext cx="1523400" cy="152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2"/>
          <p:cNvSpPr txBox="1"/>
          <p:nvPr/>
        </p:nvSpPr>
        <p:spPr>
          <a:xfrm>
            <a:off x="1494875" y="4233275"/>
            <a:ext cx="235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Pomodoro Technique</a:t>
            </a:r>
            <a:endParaRPr/>
          </a:p>
        </p:txBody>
      </p:sp>
      <p:sp>
        <p:nvSpPr>
          <p:cNvPr id="145" name="Google Shape;145;p22"/>
          <p:cNvSpPr txBox="1"/>
          <p:nvPr/>
        </p:nvSpPr>
        <p:spPr>
          <a:xfrm>
            <a:off x="4039150" y="4233275"/>
            <a:ext cx="39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XP Values (Respect, Communication)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46" name="Google Shape;146;p22"/>
          <p:cNvSpPr txBox="1"/>
          <p:nvPr/>
        </p:nvSpPr>
        <p:spPr>
          <a:xfrm>
            <a:off x="4039150" y="2411375"/>
            <a:ext cx="434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Planning Poker (Fibonacci Scale)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 Stack</a:t>
            </a:r>
            <a:endParaRPr/>
          </a:p>
        </p:txBody>
      </p:sp>
      <p:sp>
        <p:nvSpPr>
          <p:cNvPr id="152" name="Google Shape;152;p23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GitHub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GitHub Desktop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Jira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Sprint cycle management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C#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Visual Studio IDE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Unity integration</a:t>
            </a:r>
            <a:endParaRPr/>
          </a:p>
        </p:txBody>
      </p:sp>
      <p:pic>
        <p:nvPicPr>
          <p:cNvPr id="153" name="Google Shape;153;p23"/>
          <p:cNvPicPr preferRelativeResize="0"/>
          <p:nvPr/>
        </p:nvPicPr>
        <p:blipFill rotWithShape="1">
          <a:blip r:embed="rId3">
            <a:alphaModFix/>
          </a:blip>
          <a:srcRect b="14915" l="0" r="0" t="0"/>
          <a:stretch/>
        </p:blipFill>
        <p:spPr>
          <a:xfrm>
            <a:off x="152400" y="1363750"/>
            <a:ext cx="2105325" cy="179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Development Cycle</a:t>
            </a:r>
            <a:endParaRPr/>
          </a:p>
        </p:txBody>
      </p:sp>
      <p:sp>
        <p:nvSpPr>
          <p:cNvPr id="159" name="Google Shape;159;p2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Protected main branch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Pull request template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Merging only allowed to main branch after code review from at least one other person.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Weekly Sprints</a:t>
            </a:r>
            <a:endParaRPr/>
          </a:p>
        </p:txBody>
      </p:sp>
      <p:pic>
        <p:nvPicPr>
          <p:cNvPr id="160" name="Google Shape;160;p24"/>
          <p:cNvPicPr preferRelativeResize="0"/>
          <p:nvPr/>
        </p:nvPicPr>
        <p:blipFill rotWithShape="1">
          <a:blip r:embed="rId3">
            <a:alphaModFix/>
          </a:blip>
          <a:srcRect b="16429" l="0" r="0" t="0"/>
          <a:stretch/>
        </p:blipFill>
        <p:spPr>
          <a:xfrm>
            <a:off x="152400" y="1595775"/>
            <a:ext cx="2105325" cy="175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Pull Request Template</a:t>
            </a:r>
            <a:endParaRPr/>
          </a:p>
        </p:txBody>
      </p:sp>
      <p:pic>
        <p:nvPicPr>
          <p:cNvPr id="166" name="Google Shape;16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4237" y="1051175"/>
            <a:ext cx="5698726" cy="387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237" y="1711413"/>
            <a:ext cx="8963526" cy="17206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Before Review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Review</a:t>
            </a:r>
            <a:endParaRPr/>
          </a:p>
        </p:txBody>
      </p:sp>
      <p:pic>
        <p:nvPicPr>
          <p:cNvPr id="178" name="Google Shape;17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225" y="1883462"/>
            <a:ext cx="8837550" cy="137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7925" y="1572725"/>
            <a:ext cx="6092349" cy="199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7925" y="267359"/>
            <a:ext cx="6092349" cy="1169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60087" y="3754775"/>
            <a:ext cx="6223826" cy="9694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9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Demonstration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